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45B0BE-E20D-440D-A2CC-14BEF5969A36}">
  <a:tblStyle styleId="{F345B0BE-E20D-440D-A2CC-14BEF5969A3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aa94fad2495b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aa94fad2495b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aa94fad2495b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aa94fad2495b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aa94fad2495b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4aa94fad2495b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aa94fad2495b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4aa94fad2495b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4aa94fad2495b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4aa94fad2495b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4aa94fad2495b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4aa94fad2495b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aa94fad2495b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4aa94fad2495b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4aa94fad2495b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4aa94fad2495b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4aa94fad2495b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4aa94fad2495b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019a6c08e63d9ad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019a6c08e63d9ad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aa94fad2495b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4aa94fad2495b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4aa94fad2495b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4aa94fad2495b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019a6c08e63d9ad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019a6c08e63d9ad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13775" y="955775"/>
            <a:ext cx="8520600" cy="264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Threat Anal</a:t>
            </a:r>
            <a:r>
              <a:rPr lang="en-GB"/>
              <a:t>ysis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&amp;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Risk Assessment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33"/>
              <a:t>As per ISO 21434 </a:t>
            </a:r>
            <a:endParaRPr sz="1533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625159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General Notes - Vatsal Patel 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TARA Objective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3560100" y="1706950"/>
            <a:ext cx="1902000" cy="2403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Threa</a:t>
            </a:r>
            <a:r>
              <a:rPr lang="en-GB"/>
              <a:t>t Analysis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&amp;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Risk Assessment 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584725" y="2411875"/>
            <a:ext cx="1516800" cy="8976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Item Definition </a:t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6920667" y="2411880"/>
            <a:ext cx="1516800" cy="8976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Cyber</a:t>
            </a:r>
            <a:r>
              <a:rPr lang="en-GB"/>
              <a:t>security Goal (Requirements)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2382766" y="2636276"/>
            <a:ext cx="896100" cy="44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5743328" y="2636276"/>
            <a:ext cx="896100" cy="44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1024788" y="2044375"/>
            <a:ext cx="81192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Input														Output 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 flipH="1" rot="10800000">
            <a:off x="308250" y="2047000"/>
            <a:ext cx="1941000" cy="1617900"/>
          </a:xfrm>
          <a:prstGeom prst="corner">
            <a:avLst>
              <a:gd fmla="val 47534" name="adj1"/>
              <a:gd fmla="val 12575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311698" y="2873125"/>
            <a:ext cx="1934100" cy="1519200"/>
          </a:xfrm>
          <a:prstGeom prst="corner">
            <a:avLst>
              <a:gd fmla="val 50000" name="adj1"/>
              <a:gd fmla="val 13454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Methodology 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688675" y="1394972"/>
            <a:ext cx="1389900" cy="474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Item Definition </a:t>
            </a:r>
            <a:endParaRPr sz="1200"/>
          </a:p>
        </p:txBody>
      </p:sp>
      <p:sp>
        <p:nvSpPr>
          <p:cNvPr id="75" name="Google Shape;75;p15"/>
          <p:cNvSpPr/>
          <p:nvPr/>
        </p:nvSpPr>
        <p:spPr>
          <a:xfrm>
            <a:off x="688675" y="2193333"/>
            <a:ext cx="1389900" cy="474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Asset</a:t>
            </a:r>
            <a:endParaRPr sz="1200"/>
          </a:p>
        </p:txBody>
      </p:sp>
      <p:sp>
        <p:nvSpPr>
          <p:cNvPr id="76" name="Google Shape;76;p15"/>
          <p:cNvSpPr/>
          <p:nvPr/>
        </p:nvSpPr>
        <p:spPr>
          <a:xfrm>
            <a:off x="4939830" y="2193316"/>
            <a:ext cx="1389900" cy="474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Impact</a:t>
            </a:r>
            <a:endParaRPr sz="1200"/>
          </a:p>
        </p:txBody>
      </p:sp>
      <p:sp>
        <p:nvSpPr>
          <p:cNvPr id="77" name="Google Shape;77;p15"/>
          <p:cNvSpPr/>
          <p:nvPr/>
        </p:nvSpPr>
        <p:spPr>
          <a:xfrm>
            <a:off x="2814258" y="2193335"/>
            <a:ext cx="1389900" cy="474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Damage Scenario</a:t>
            </a:r>
            <a:endParaRPr sz="1200"/>
          </a:p>
        </p:txBody>
      </p:sp>
      <p:sp>
        <p:nvSpPr>
          <p:cNvPr id="78" name="Google Shape;78;p15"/>
          <p:cNvSpPr/>
          <p:nvPr/>
        </p:nvSpPr>
        <p:spPr>
          <a:xfrm>
            <a:off x="2814247" y="2991708"/>
            <a:ext cx="1389900" cy="474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Thre</a:t>
            </a:r>
            <a:r>
              <a:rPr lang="en-GB" sz="1200"/>
              <a:t>at Scenario</a:t>
            </a:r>
            <a:endParaRPr sz="1200"/>
          </a:p>
        </p:txBody>
      </p:sp>
      <p:sp>
        <p:nvSpPr>
          <p:cNvPr id="79" name="Google Shape;79;p15"/>
          <p:cNvSpPr/>
          <p:nvPr/>
        </p:nvSpPr>
        <p:spPr>
          <a:xfrm>
            <a:off x="2814233" y="3790070"/>
            <a:ext cx="1389900" cy="474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Attack Path</a:t>
            </a:r>
            <a:endParaRPr sz="1200"/>
          </a:p>
        </p:txBody>
      </p:sp>
      <p:sp>
        <p:nvSpPr>
          <p:cNvPr id="80" name="Google Shape;80;p15"/>
          <p:cNvSpPr/>
          <p:nvPr/>
        </p:nvSpPr>
        <p:spPr>
          <a:xfrm>
            <a:off x="4939766" y="3790068"/>
            <a:ext cx="1389900" cy="474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Attack Feasibility</a:t>
            </a:r>
            <a:endParaRPr sz="1200"/>
          </a:p>
        </p:txBody>
      </p:sp>
      <p:sp>
        <p:nvSpPr>
          <p:cNvPr id="81" name="Google Shape;81;p15"/>
          <p:cNvSpPr/>
          <p:nvPr/>
        </p:nvSpPr>
        <p:spPr>
          <a:xfrm>
            <a:off x="4939814" y="2991709"/>
            <a:ext cx="1389900" cy="474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Risk Value Det</a:t>
            </a:r>
            <a:r>
              <a:rPr lang="en-GB" sz="1200"/>
              <a:t>ermination </a:t>
            </a:r>
            <a:endParaRPr sz="1200"/>
          </a:p>
        </p:txBody>
      </p:sp>
      <p:sp>
        <p:nvSpPr>
          <p:cNvPr id="82" name="Google Shape;82;p15"/>
          <p:cNvSpPr/>
          <p:nvPr/>
        </p:nvSpPr>
        <p:spPr>
          <a:xfrm>
            <a:off x="688675" y="2991693"/>
            <a:ext cx="1389900" cy="47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Threat</a:t>
            </a:r>
            <a:endParaRPr sz="1200"/>
          </a:p>
        </p:txBody>
      </p:sp>
      <p:sp>
        <p:nvSpPr>
          <p:cNvPr id="83" name="Google Shape;83;p15"/>
          <p:cNvSpPr/>
          <p:nvPr/>
        </p:nvSpPr>
        <p:spPr>
          <a:xfrm>
            <a:off x="7065405" y="2991706"/>
            <a:ext cx="1389900" cy="474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Cyber</a:t>
            </a:r>
            <a:r>
              <a:rPr lang="en-GB" sz="1200"/>
              <a:t>security Goal</a:t>
            </a:r>
            <a:endParaRPr sz="1200"/>
          </a:p>
        </p:txBody>
      </p:sp>
      <p:sp>
        <p:nvSpPr>
          <p:cNvPr id="84" name="Google Shape;84;p15"/>
          <p:cNvSpPr/>
          <p:nvPr/>
        </p:nvSpPr>
        <p:spPr>
          <a:xfrm>
            <a:off x="7065326" y="3790073"/>
            <a:ext cx="1389900" cy="474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Risk Trea</a:t>
            </a:r>
            <a:r>
              <a:rPr lang="en-GB" sz="1200"/>
              <a:t>tment</a:t>
            </a:r>
            <a:r>
              <a:rPr lang="en-GB" sz="1200"/>
              <a:t> </a:t>
            </a:r>
            <a:endParaRPr sz="1200"/>
          </a:p>
        </p:txBody>
      </p:sp>
      <p:sp>
        <p:nvSpPr>
          <p:cNvPr id="85" name="Google Shape;85;p15"/>
          <p:cNvSpPr/>
          <p:nvPr/>
        </p:nvSpPr>
        <p:spPr>
          <a:xfrm>
            <a:off x="688675" y="3790068"/>
            <a:ext cx="1389900" cy="47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Cybersecurity Properties</a:t>
            </a:r>
            <a:endParaRPr sz="1200"/>
          </a:p>
        </p:txBody>
      </p:sp>
      <p:cxnSp>
        <p:nvCxnSpPr>
          <p:cNvPr id="86" name="Google Shape;86;p15"/>
          <p:cNvCxnSpPr>
            <a:stCxn id="75" idx="0"/>
            <a:endCxn id="74" idx="2"/>
          </p:cNvCxnSpPr>
          <p:nvPr/>
        </p:nvCxnSpPr>
        <p:spPr>
          <a:xfrm rot="10800000">
            <a:off x="1383625" y="1869033"/>
            <a:ext cx="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7" name="Google Shape;87;p15"/>
          <p:cNvCxnSpPr>
            <a:stCxn id="82" idx="0"/>
            <a:endCxn id="75" idx="2"/>
          </p:cNvCxnSpPr>
          <p:nvPr/>
        </p:nvCxnSpPr>
        <p:spPr>
          <a:xfrm rot="10800000">
            <a:off x="1383625" y="2667393"/>
            <a:ext cx="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8" name="Google Shape;88;p15"/>
          <p:cNvCxnSpPr>
            <a:stCxn id="82" idx="2"/>
            <a:endCxn id="85" idx="0"/>
          </p:cNvCxnSpPr>
          <p:nvPr/>
        </p:nvCxnSpPr>
        <p:spPr>
          <a:xfrm>
            <a:off x="1383625" y="3465693"/>
            <a:ext cx="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9" name="Google Shape;89;p15"/>
          <p:cNvCxnSpPr>
            <a:stCxn id="78" idx="1"/>
            <a:endCxn id="82" idx="3"/>
          </p:cNvCxnSpPr>
          <p:nvPr/>
        </p:nvCxnSpPr>
        <p:spPr>
          <a:xfrm rot="10800000">
            <a:off x="2078647" y="3228708"/>
            <a:ext cx="735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0" name="Google Shape;90;p15"/>
          <p:cNvCxnSpPr>
            <a:stCxn id="78" idx="0"/>
            <a:endCxn id="77" idx="2"/>
          </p:cNvCxnSpPr>
          <p:nvPr/>
        </p:nvCxnSpPr>
        <p:spPr>
          <a:xfrm rot="10800000">
            <a:off x="3509197" y="2667408"/>
            <a:ext cx="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1" name="Google Shape;91;p15"/>
          <p:cNvCxnSpPr>
            <a:stCxn id="76" idx="1"/>
            <a:endCxn id="77" idx="3"/>
          </p:cNvCxnSpPr>
          <p:nvPr/>
        </p:nvCxnSpPr>
        <p:spPr>
          <a:xfrm rot="10800000">
            <a:off x="4204230" y="2430316"/>
            <a:ext cx="735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2" name="Google Shape;92;p15"/>
          <p:cNvCxnSpPr>
            <a:stCxn id="80" idx="1"/>
            <a:endCxn id="79" idx="3"/>
          </p:cNvCxnSpPr>
          <p:nvPr/>
        </p:nvCxnSpPr>
        <p:spPr>
          <a:xfrm rot="10800000">
            <a:off x="4204166" y="4027068"/>
            <a:ext cx="735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3" name="Google Shape;93;p15"/>
          <p:cNvCxnSpPr>
            <a:stCxn id="81" idx="2"/>
            <a:endCxn id="80" idx="0"/>
          </p:cNvCxnSpPr>
          <p:nvPr/>
        </p:nvCxnSpPr>
        <p:spPr>
          <a:xfrm>
            <a:off x="5634764" y="3465709"/>
            <a:ext cx="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4" name="Google Shape;94;p15"/>
          <p:cNvCxnSpPr>
            <a:stCxn id="81" idx="0"/>
            <a:endCxn id="76" idx="2"/>
          </p:cNvCxnSpPr>
          <p:nvPr/>
        </p:nvCxnSpPr>
        <p:spPr>
          <a:xfrm rot="10800000">
            <a:off x="5634764" y="2667409"/>
            <a:ext cx="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5" name="Google Shape;95;p15"/>
          <p:cNvCxnSpPr>
            <a:stCxn id="84" idx="1"/>
            <a:endCxn id="81" idx="3"/>
          </p:cNvCxnSpPr>
          <p:nvPr/>
        </p:nvCxnSpPr>
        <p:spPr>
          <a:xfrm rot="10800000">
            <a:off x="6329726" y="3228773"/>
            <a:ext cx="735600" cy="79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6" name="Google Shape;96;p15"/>
          <p:cNvCxnSpPr>
            <a:stCxn id="83" idx="2"/>
            <a:endCxn id="84" idx="0"/>
          </p:cNvCxnSpPr>
          <p:nvPr/>
        </p:nvCxnSpPr>
        <p:spPr>
          <a:xfrm>
            <a:off x="7760355" y="3465706"/>
            <a:ext cx="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7" name="Google Shape;97;p15"/>
          <p:cNvSpPr/>
          <p:nvPr/>
        </p:nvSpPr>
        <p:spPr>
          <a:xfrm>
            <a:off x="7065401" y="2166898"/>
            <a:ext cx="1389900" cy="474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Risk Level </a:t>
            </a:r>
            <a:endParaRPr sz="1200"/>
          </a:p>
        </p:txBody>
      </p:sp>
      <p:cxnSp>
        <p:nvCxnSpPr>
          <p:cNvPr id="98" name="Google Shape;98;p15"/>
          <p:cNvCxnSpPr>
            <a:stCxn id="97" idx="1"/>
            <a:endCxn id="81" idx="3"/>
          </p:cNvCxnSpPr>
          <p:nvPr/>
        </p:nvCxnSpPr>
        <p:spPr>
          <a:xfrm flipH="1">
            <a:off x="6329801" y="2403898"/>
            <a:ext cx="735600" cy="82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9" name="Google Shape;99;p15"/>
          <p:cNvCxnSpPr>
            <a:stCxn id="83" idx="0"/>
            <a:endCxn id="97" idx="2"/>
          </p:cNvCxnSpPr>
          <p:nvPr/>
        </p:nvCxnSpPr>
        <p:spPr>
          <a:xfrm rot="10800000">
            <a:off x="7760355" y="2641006"/>
            <a:ext cx="0" cy="35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0" name="Google Shape;100;p15"/>
          <p:cNvCxnSpPr>
            <a:stCxn id="79" idx="0"/>
            <a:endCxn id="78" idx="2"/>
          </p:cNvCxnSpPr>
          <p:nvPr/>
        </p:nvCxnSpPr>
        <p:spPr>
          <a:xfrm rot="10800000">
            <a:off x="3509183" y="3465770"/>
            <a:ext cx="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1" name="Google Shape;101;p15"/>
          <p:cNvSpPr/>
          <p:nvPr/>
        </p:nvSpPr>
        <p:spPr>
          <a:xfrm>
            <a:off x="2814246" y="1394972"/>
            <a:ext cx="1389900" cy="47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Function</a:t>
            </a:r>
            <a:endParaRPr sz="1200"/>
          </a:p>
        </p:txBody>
      </p:sp>
      <p:cxnSp>
        <p:nvCxnSpPr>
          <p:cNvPr id="102" name="Google Shape;102;p15"/>
          <p:cNvCxnSpPr/>
          <p:nvPr/>
        </p:nvCxnSpPr>
        <p:spPr>
          <a:xfrm rot="10800000">
            <a:off x="2078622" y="1631983"/>
            <a:ext cx="735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3" name="Google Shape;103;p15"/>
          <p:cNvCxnSpPr>
            <a:stCxn id="77" idx="0"/>
            <a:endCxn id="101" idx="2"/>
          </p:cNvCxnSpPr>
          <p:nvPr/>
        </p:nvCxnSpPr>
        <p:spPr>
          <a:xfrm rot="10800000">
            <a:off x="3509208" y="1869035"/>
            <a:ext cx="0" cy="3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4" name="Google Shape;104;p15"/>
          <p:cNvCxnSpPr>
            <a:stCxn id="77" idx="1"/>
            <a:endCxn id="75" idx="3"/>
          </p:cNvCxnSpPr>
          <p:nvPr/>
        </p:nvCxnSpPr>
        <p:spPr>
          <a:xfrm rot="10800000">
            <a:off x="2078658" y="2430335"/>
            <a:ext cx="735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Modeling Item / Target of Evaluation (ToE)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3433866" y="119310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Functions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Technologies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Components and Connections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Data Flow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Diagram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Mapping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Component - Function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Function - Data Flow</a:t>
            </a:r>
            <a:endParaRPr/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75" y="1227025"/>
            <a:ext cx="2232351" cy="334854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643250" y="4575575"/>
            <a:ext cx="238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dk2"/>
                </a:solidFill>
              </a:rPr>
              <a:t>*Image generated by providing written description to ChatGPT</a:t>
            </a:r>
            <a:endParaRPr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Cybersecurity Relevance </a:t>
            </a:r>
            <a:endParaRPr/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5856287" y="1478913"/>
            <a:ext cx="297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E/E component?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Safety Relevant?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Stores or processes Personally Identifiable Information?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</a:t>
            </a:r>
            <a:r>
              <a:rPr lang="en-GB"/>
              <a:t>rconnected?</a:t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3303912" y="3570804"/>
            <a:ext cx="2088275" cy="803400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Networked?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3303938" y="2433590"/>
            <a:ext cx="2088275" cy="803400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PII?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3303926" y="1296365"/>
            <a:ext cx="2088275" cy="803400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ASIL?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728296" y="1296365"/>
            <a:ext cx="2088275" cy="803400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E/E?</a:t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5856128" y="3686166"/>
            <a:ext cx="2135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Cybersecurity Relevant </a:t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704853" y="3686166"/>
            <a:ext cx="21351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Cybersecurity Relevant </a:t>
            </a:r>
            <a:endParaRPr/>
          </a:p>
        </p:txBody>
      </p:sp>
      <p:cxnSp>
        <p:nvCxnSpPr>
          <p:cNvPr id="125" name="Google Shape;125;p17"/>
          <p:cNvCxnSpPr>
            <a:stCxn id="121" idx="1"/>
            <a:endCxn id="122" idx="3"/>
          </p:cNvCxnSpPr>
          <p:nvPr/>
        </p:nvCxnSpPr>
        <p:spPr>
          <a:xfrm rot="10800000">
            <a:off x="2816426" y="1698065"/>
            <a:ext cx="487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6" name="Google Shape;126;p17"/>
          <p:cNvCxnSpPr>
            <a:stCxn id="124" idx="0"/>
            <a:endCxn id="122" idx="2"/>
          </p:cNvCxnSpPr>
          <p:nvPr/>
        </p:nvCxnSpPr>
        <p:spPr>
          <a:xfrm rot="10800000">
            <a:off x="1772403" y="2099766"/>
            <a:ext cx="0" cy="158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7" name="Google Shape;127;p17"/>
          <p:cNvCxnSpPr>
            <a:stCxn id="120" idx="0"/>
            <a:endCxn id="121" idx="2"/>
          </p:cNvCxnSpPr>
          <p:nvPr/>
        </p:nvCxnSpPr>
        <p:spPr>
          <a:xfrm rot="10800000">
            <a:off x="4348076" y="2099690"/>
            <a:ext cx="0" cy="33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8" name="Google Shape;128;p17"/>
          <p:cNvCxnSpPr>
            <a:stCxn id="119" idx="0"/>
            <a:endCxn id="120" idx="2"/>
          </p:cNvCxnSpPr>
          <p:nvPr/>
        </p:nvCxnSpPr>
        <p:spPr>
          <a:xfrm rot="10800000">
            <a:off x="4348049" y="3236904"/>
            <a:ext cx="0" cy="33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9" name="Google Shape;129;p17"/>
          <p:cNvCxnSpPr>
            <a:stCxn id="124" idx="3"/>
            <a:endCxn id="119" idx="1"/>
          </p:cNvCxnSpPr>
          <p:nvPr/>
        </p:nvCxnSpPr>
        <p:spPr>
          <a:xfrm>
            <a:off x="2839953" y="3972516"/>
            <a:ext cx="46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0" name="Google Shape;130;p17"/>
          <p:cNvCxnSpPr>
            <a:stCxn id="123" idx="1"/>
            <a:endCxn id="119" idx="3"/>
          </p:cNvCxnSpPr>
          <p:nvPr/>
        </p:nvCxnSpPr>
        <p:spPr>
          <a:xfrm rot="10800000">
            <a:off x="5392328" y="3972516"/>
            <a:ext cx="463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1" name="Google Shape;131;p17"/>
          <p:cNvCxnSpPr>
            <a:stCxn id="123" idx="1"/>
            <a:endCxn id="121" idx="3"/>
          </p:cNvCxnSpPr>
          <p:nvPr/>
        </p:nvCxnSpPr>
        <p:spPr>
          <a:xfrm rot="10800000">
            <a:off x="5392328" y="1697916"/>
            <a:ext cx="463800" cy="2274600"/>
          </a:xfrm>
          <a:prstGeom prst="bentConnector3">
            <a:avLst>
              <a:gd fmla="val 5001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2" name="Google Shape;132;p17"/>
          <p:cNvCxnSpPr>
            <a:stCxn id="123" idx="1"/>
            <a:endCxn id="120" idx="3"/>
          </p:cNvCxnSpPr>
          <p:nvPr/>
        </p:nvCxnSpPr>
        <p:spPr>
          <a:xfrm rot="10800000">
            <a:off x="5392328" y="2835216"/>
            <a:ext cx="463800" cy="1137300"/>
          </a:xfrm>
          <a:prstGeom prst="bentConnector3">
            <a:avLst>
              <a:gd fmla="val 5001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Item / Target of Evaluation (ToE) Definition </a:t>
            </a:r>
            <a:r>
              <a:rPr lang="en-GB" sz="1500"/>
              <a:t>[WP-09-01]</a:t>
            </a:r>
            <a:endParaRPr sz="1500"/>
          </a:p>
        </p:txBody>
      </p:sp>
      <p:sp>
        <p:nvSpPr>
          <p:cNvPr id="138" name="Google Shape;13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All Product Information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Main Function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Architecture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Operational Environment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Scope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Asset </a:t>
            </a:r>
            <a:r>
              <a:rPr lang="en-GB"/>
              <a:t>Identification</a:t>
            </a:r>
            <a:endParaRPr/>
          </a:p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</a:t>
            </a:r>
            <a:r>
              <a:rPr lang="en-GB"/>
              <a:t>mage Scenario </a:t>
            </a:r>
            <a:r>
              <a:rPr lang="en-GB" sz="1200"/>
              <a:t>[WP-15-01]</a:t>
            </a:r>
            <a:endParaRPr sz="12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Relationship between functionality and adverse consequences.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Description of damage/harm to the road user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Assets with Cybersecurity properties, </a:t>
            </a:r>
            <a:r>
              <a:rPr lang="en-GB" sz="1200"/>
              <a:t>[WP-15-02]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whose compromise leads to harm situation.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</a:t>
            </a:r>
            <a:r>
              <a:rPr lang="en-GB"/>
              <a:t>at Scenario Identification </a:t>
            </a:r>
            <a:r>
              <a:rPr lang="en-GB" sz="1500"/>
              <a:t>[WP-15-03]</a:t>
            </a:r>
            <a:endParaRPr sz="1500"/>
          </a:p>
        </p:txBody>
      </p:sp>
      <p:sp>
        <p:nvSpPr>
          <p:cNvPr id="150" name="Google Shape;15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Specific Asset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Compromises cybersecurity property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Cause of compromise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Method, tools, attacker, attack surface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Methods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Identification of abuse </a:t>
            </a:r>
            <a:r>
              <a:rPr lang="en-GB"/>
              <a:t>and misuse cases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Framework - STRIDE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Potential Threat</a:t>
            </a:r>
            <a:endParaRPr/>
          </a:p>
        </p:txBody>
      </p:sp>
      <p:graphicFrame>
        <p:nvGraphicFramePr>
          <p:cNvPr id="156" name="Google Shape;156;p21"/>
          <p:cNvGraphicFramePr/>
          <p:nvPr/>
        </p:nvGraphicFramePr>
        <p:xfrm>
          <a:off x="952475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{F345B0BE-E20D-440D-A2CC-14BEF5969A36}</a:tableStyleId>
              </a:tblPr>
              <a:tblGrid>
                <a:gridCol w="2648450"/>
                <a:gridCol w="774225"/>
                <a:gridCol w="787225"/>
                <a:gridCol w="803525"/>
                <a:gridCol w="720425"/>
                <a:gridCol w="732625"/>
                <a:gridCol w="772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Data Element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</a:t>
                      </a:r>
                      <a:endParaRPr>
                        <a:solidFill>
                          <a:srgbClr val="4A86E8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External Entity 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Data Flow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Stored Data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Data Process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Impact Rati</a:t>
            </a:r>
            <a:r>
              <a:rPr lang="en-GB"/>
              <a:t>ng </a:t>
            </a:r>
            <a:r>
              <a:rPr lang="en-GB" sz="1500"/>
              <a:t>[WP-15-04]</a:t>
            </a:r>
            <a:endParaRPr sz="1500"/>
          </a:p>
        </p:txBody>
      </p:sp>
      <p:sp>
        <p:nvSpPr>
          <p:cNvPr id="162" name="Google Shape;16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Impact Categories: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Safety		Annex F.2 (derived/reused from ISO 26262-3:2018, 6.4.3)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Financial 		Annex F.3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Operational 	Annex F.4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Privacy		Annex F.5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Degree of Impact: 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Severe, Major, Moderate, Negligible.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/>
              <a:t>Note</a:t>
            </a:r>
            <a:r>
              <a:rPr lang="en-GB" sz="1500"/>
              <a:t>: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/>
              <a:t>Impact with the highest criticality from any of these four category shall be analyzed, rest can be omitted.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Attack Paths </a:t>
            </a:r>
            <a:r>
              <a:rPr lang="en-GB" sz="1500"/>
              <a:t>[WP-15-05]</a:t>
            </a:r>
            <a:endParaRPr sz="1500"/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Attack Surface &amp; Proximity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Physical (e.g. </a:t>
            </a:r>
            <a:r>
              <a:rPr lang="en-GB"/>
              <a:t>Pins, Connectors…)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Local (e.g. LIN, CAN, USB…)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Adjacent (e.g. BT, W</a:t>
            </a:r>
            <a:r>
              <a:rPr lang="en-GB"/>
              <a:t>I-FI, Sensor…)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Remote (e.g. Internet, Backed…)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Attack Feasibility Rating </a:t>
            </a:r>
            <a:r>
              <a:rPr lang="en-GB" sz="1500"/>
              <a:t>[WP-15-06]</a:t>
            </a:r>
            <a:endParaRPr sz="1500"/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Attack Vector: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Physical, Local, Adjacent, Network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Attack Potential: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Elapsed time, expertise, system k</a:t>
            </a:r>
            <a:r>
              <a:rPr lang="en-GB"/>
              <a:t>nowledge, window of opportunity, Equipment.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CVSS 3.1 (or 4.0): Exploitability Metrics: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Attack Vector, Attack Complexity, (Attack Requirement,) Privileges required, User Interaction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Risk -Value Determination </a:t>
            </a:r>
            <a:r>
              <a:rPr lang="en-GB" sz="1500"/>
              <a:t>[WP-15-07]</a:t>
            </a:r>
            <a:r>
              <a:rPr lang="en-GB"/>
              <a:t> &amp; -Treatment </a:t>
            </a:r>
            <a:r>
              <a:rPr lang="en-GB" sz="1500"/>
              <a:t>[WP-15-08]</a:t>
            </a:r>
            <a:endParaRPr sz="1500"/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6266476" y="1304075"/>
            <a:ext cx="273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Treatment</a:t>
            </a:r>
            <a:r>
              <a:rPr lang="en-GB"/>
              <a:t>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Accept (Reatin)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Transfer / Share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Avoid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Reduce / Mitigate</a:t>
            </a:r>
            <a:endParaRPr/>
          </a:p>
        </p:txBody>
      </p:sp>
      <p:graphicFrame>
        <p:nvGraphicFramePr>
          <p:cNvPr id="181" name="Google Shape;181;p25"/>
          <p:cNvGraphicFramePr/>
          <p:nvPr/>
        </p:nvGraphicFramePr>
        <p:xfrm>
          <a:off x="602905" y="139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{F345B0BE-E20D-440D-A2CC-14BEF5969A36}</a:tableStyleId>
              </a:tblPr>
              <a:tblGrid>
                <a:gridCol w="1050425"/>
                <a:gridCol w="1050425"/>
                <a:gridCol w="1050425"/>
                <a:gridCol w="1050425"/>
                <a:gridCol w="1050425"/>
              </a:tblGrid>
              <a:tr h="38277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Impact Rating </a:t>
                      </a:r>
                      <a:endParaRPr/>
                    </a:p>
                  </a:txBody>
                  <a:tcPr marT="91425" marB="91425" marR="91425" marL="91425"/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Attack Feasibility Rating 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  <a:tr h="3827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Very low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Low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Medium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High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Severe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0000"/>
                    </a:solidFill>
                  </a:tcPr>
                </a:tc>
              </a:tr>
              <a:tr h="38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Major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</a:tr>
              <a:tr h="38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Moderate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6B26B"/>
                    </a:solidFill>
                  </a:tcPr>
                </a:tc>
              </a:tr>
              <a:tr h="38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Negligible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Cybersecurity Activity &amp; Work products </a:t>
            </a:r>
            <a:r>
              <a:rPr lang="en-GB" sz="1500"/>
              <a:t>(as per ISO 21434)</a:t>
            </a:r>
            <a:endParaRPr sz="1500"/>
          </a:p>
        </p:txBody>
      </p:sp>
      <p:graphicFrame>
        <p:nvGraphicFramePr>
          <p:cNvPr id="187" name="Google Shape;187;p26"/>
          <p:cNvGraphicFramePr/>
          <p:nvPr/>
        </p:nvGraphicFramePr>
        <p:xfrm>
          <a:off x="455750" y="11038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{F345B0BE-E20D-440D-A2CC-14BEF5969A36}</a:tableStyleId>
              </a:tblPr>
              <a:tblGrid>
                <a:gridCol w="2744700"/>
                <a:gridCol w="5375225"/>
              </a:tblGrid>
              <a:tr h="28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Sub-claauses</a:t>
                      </a:r>
                      <a:endParaRPr sz="700"/>
                    </a:p>
                  </a:txBody>
                  <a:tcPr marT="91425" marB="91425" marR="91425" marL="91425" anchor="ctr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Work Products (WP)</a:t>
                      </a:r>
                      <a:endParaRPr sz="700"/>
                    </a:p>
                  </a:txBody>
                  <a:tcPr marT="91425" marB="91425" marR="91425" marL="91425" anchor="ctr">
                    <a:solidFill>
                      <a:srgbClr val="6D9EEB"/>
                    </a:solidFill>
                  </a:tcPr>
                </a:tc>
              </a:tr>
              <a:tr h="2894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Concept Phase</a:t>
                      </a:r>
                      <a:endParaRPr sz="700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 hMerge="1"/>
              </a:tr>
              <a:tr h="28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9.3 Item Definition 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[WP-09-01] Item Definition </a:t>
                      </a:r>
                      <a:endParaRPr sz="700"/>
                    </a:p>
                  </a:txBody>
                  <a:tcPr marT="91425" marB="91425" marR="91425" marL="91425" anchor="ctr"/>
                </a:tc>
              </a:tr>
              <a:tr h="500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9.4 Cybersecurity Goals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[WP-09-02] TARA</a:t>
                      </a:r>
                      <a:endParaRPr sz="7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[WP-09-03] Cybersecurity Goal </a:t>
                      </a:r>
                      <a:endParaRPr sz="7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…</a:t>
                      </a:r>
                      <a:endParaRPr sz="700"/>
                    </a:p>
                  </a:txBody>
                  <a:tcPr marT="91425" marB="91425" marR="91425" marL="91425" anchor="ctr"/>
                </a:tc>
              </a:tr>
              <a:tr h="2894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Threat Analysis and Risk Assessment Methods</a:t>
                      </a:r>
                      <a:endParaRPr sz="700"/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  <a:tc hMerge="1"/>
              </a:tr>
              <a:tr h="39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15.3 Asset Identification 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[WP-15-01] Damage Scenarios</a:t>
                      </a:r>
                      <a:endParaRPr sz="7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[WP-15-02] Assets with Cybersecurity Properties </a:t>
                      </a:r>
                      <a:endParaRPr sz="700"/>
                    </a:p>
                  </a:txBody>
                  <a:tcPr marT="91425" marB="91425" marR="91425" marL="91425" anchor="ctr"/>
                </a:tc>
              </a:tr>
              <a:tr h="28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15.4 Threat Scenario Identification 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[WP-15-03] Threat Scenarios</a:t>
                      </a:r>
                      <a:endParaRPr sz="700"/>
                    </a:p>
                  </a:txBody>
                  <a:tcPr marT="91425" marB="91425" marR="91425" marL="91425" anchor="ctr"/>
                </a:tc>
              </a:tr>
              <a:tr h="28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15.5 Impact Rating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[WP-15-04] Impact ratings with associated Impact Categories </a:t>
                      </a:r>
                      <a:endParaRPr sz="700"/>
                    </a:p>
                  </a:txBody>
                  <a:tcPr marT="91425" marB="91425" marR="91425" marL="91425" anchor="ctr"/>
                </a:tc>
              </a:tr>
              <a:tr h="28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15.6 Attack Path Analysis 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[WP-15-05] Attack Paths</a:t>
                      </a:r>
                      <a:endParaRPr sz="700"/>
                    </a:p>
                  </a:txBody>
                  <a:tcPr marT="91425" marB="91425" marR="91425" marL="91425" anchor="ctr"/>
                </a:tc>
              </a:tr>
              <a:tr h="28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15.7 Attack Feasibility Rating 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[WP-15-06] Attack Feasibility Ratings </a:t>
                      </a:r>
                      <a:endParaRPr sz="700"/>
                    </a:p>
                  </a:txBody>
                  <a:tcPr marT="91425" marB="91425" marR="91425" marL="91425" anchor="ctr"/>
                </a:tc>
              </a:tr>
              <a:tr h="28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15.8 Risk Value Determination 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[WP-15-07] Risk Values </a:t>
                      </a:r>
                      <a:endParaRPr sz="700"/>
                    </a:p>
                  </a:txBody>
                  <a:tcPr marT="91425" marB="91425" marR="91425" marL="91425" anchor="ctr"/>
                </a:tc>
              </a:tr>
              <a:tr h="28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15.9 Risk Treatment Decision </a:t>
                      </a:r>
                      <a:endParaRPr sz="7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/>
                        <a:t>[WP-15-08] Risk Treatment Decisions</a:t>
                      </a:r>
                      <a:endParaRPr sz="7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